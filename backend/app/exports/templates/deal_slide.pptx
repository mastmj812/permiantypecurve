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7" r:id="rId2"/>
    <p:sldId id="31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4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91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15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88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A23B-1072-6D49-A55D-F0662E7A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0F973-590D-A7CC-A66C-EB860CCE0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238184-1E6B-B03E-387D-F1310351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6E6B3-56B4-9923-E78B-46E18FAC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492875"/>
            <a:ext cx="42920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9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6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50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41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43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20" name="TopBar"/>
          <p:cNvSpPr/>
          <p:nvPr userDrawn="1"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1" name="BottomBar"/>
          <p:cNvSpPr/>
          <p:nvPr userDrawn="1"/>
        </p:nvSpPr>
        <p:spPr>
          <a:xfrm>
            <a:off x="0" y="6345936"/>
            <a:ext cx="12192000" cy="512064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2" name="TopAccentStripe"/>
          <p:cNvSpPr/>
          <p:nvPr userDrawn="1"/>
        </p:nvSpPr>
        <p:spPr>
          <a:xfrm>
            <a:off x="0" y="512064"/>
            <a:ext cx="12192000" cy="36576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3" name="BottomAccentStripe"/>
          <p:cNvSpPr/>
          <p:nvPr userDrawn="1"/>
        </p:nvSpPr>
        <p:spPr>
          <a:xfrm>
            <a:off x="0" y="6309360"/>
            <a:ext cx="12192000" cy="36576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5" name="FooterText"/>
          <p:cNvSpPr/>
          <p:nvPr userDrawn="1"/>
        </p:nvSpPr>
        <p:spPr>
          <a:xfrm>
            <a:off x="274320" y="6380000"/>
            <a:ext cx="4572000" cy="4389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>
                <a:solidFill>
                  <a:srgbClr val="FFFFFF">
                    <a:alpha val="70000"/>
                  </a:srgbClr>
                </a:solidFill>
                <a:latin typeface="Open Sans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9819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1B3A5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rgbClr val="2D3E50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E50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2D3E50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2D3E50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rgbClr val="2D3E5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516C-E151-BB6C-0BEF-214520FA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51DD-DB30-9CFD-EB9C-569DF50B8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holdTheLine_bs2s </a:t>
            </a:r>
            <a:r>
              <a:rPr dirty="0"/>
              <a:t>Oil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7A5762-E7A7-0D53-4C25-DEE46F2C557C}"/>
              </a:ext>
            </a:extLst>
          </p:cNvPr>
          <p:cNvGraphicFramePr>
            <a:graphicFrameLocks noGrp="1"/>
          </p:cNvGraphicFramePr>
          <p:nvPr/>
        </p:nvGraphicFramePr>
        <p:xfrm>
          <a:off x="231648" y="1114769"/>
          <a:ext cx="11603742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5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4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35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3501">
                  <a:extLst>
                    <a:ext uri="{9D8B030D-6E8A-4147-A177-3AD203B41FA5}">
                      <a16:colId xmlns:a16="http://schemas.microsoft.com/office/drawing/2014/main" val="2509657326"/>
                    </a:ext>
                  </a:extLst>
                </a:gridCol>
                <a:gridCol w="663501">
                  <a:extLst>
                    <a:ext uri="{9D8B030D-6E8A-4147-A177-3AD203B41FA5}">
                      <a16:colId xmlns:a16="http://schemas.microsoft.com/office/drawing/2014/main" val="3160742120"/>
                    </a:ext>
                  </a:extLst>
                </a:gridCol>
                <a:gridCol w="663501">
                  <a:extLst>
                    <a:ext uri="{9D8B030D-6E8A-4147-A177-3AD203B41FA5}">
                      <a16:colId xmlns:a16="http://schemas.microsoft.com/office/drawing/2014/main" val="3574477236"/>
                    </a:ext>
                  </a:extLst>
                </a:gridCol>
                <a:gridCol w="663501">
                  <a:extLst>
                    <a:ext uri="{9D8B030D-6E8A-4147-A177-3AD203B41FA5}">
                      <a16:colId xmlns:a16="http://schemas.microsoft.com/office/drawing/2014/main" val="1644826711"/>
                    </a:ext>
                  </a:extLst>
                </a:gridCol>
                <a:gridCol w="663501">
                  <a:extLst>
                    <a:ext uri="{9D8B030D-6E8A-4147-A177-3AD203B41FA5}">
                      <a16:colId xmlns:a16="http://schemas.microsoft.com/office/drawing/2014/main" val="1943353028"/>
                    </a:ext>
                  </a:extLst>
                </a:gridCol>
                <a:gridCol w="6635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350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350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350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350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sz="700" b="1"/>
                        <a:t>Type Curve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/>
                        <a:t>Oil 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/>
                        <a:t>Oil 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/>
                        <a:t>Oil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/>
                        <a:t>Oil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/>
                        <a:t>Oil 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dirty="0"/>
                        <a:t>Oil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Gas Initial</a:t>
                      </a:r>
                      <a:endParaRPr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Gas Mo.</a:t>
                      </a:r>
                      <a:endParaRPr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Gas Peak</a:t>
                      </a:r>
                      <a:endParaRPr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Gas B</a:t>
                      </a:r>
                      <a:endParaRPr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Gas Di</a:t>
                      </a:r>
                      <a:endParaRPr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dirty="0"/>
                        <a:t>Gas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/>
                        <a:t>Water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/>
                        <a:t>Water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/>
                        <a:t>Water 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/>
                        <a:t>Water 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holdTheLine_bs2s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100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2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720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0.6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705,417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200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3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1,800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0.55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2,069,292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4,000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0.6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3,917,294</a:t>
                      </a:r>
                      <a:endParaRPr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73ACB0E-077B-E31F-E31C-94930D235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502" y="2086266"/>
            <a:ext cx="10904034" cy="379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4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5672E-F36C-2C71-E965-236AC7D23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0F209B-0422-F616-312B-8E445CA210BA}"/>
              </a:ext>
            </a:extLst>
          </p:cNvPr>
          <p:cNvGraphicFramePr>
            <a:graphicFrameLocks noGrp="1"/>
          </p:cNvGraphicFramePr>
          <p:nvPr/>
        </p:nvGraphicFramePr>
        <p:xfrm>
          <a:off x="472439" y="1265670"/>
          <a:ext cx="11247117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377">
                  <a:extLst>
                    <a:ext uri="{9D8B030D-6E8A-4147-A177-3AD203B41FA5}">
                      <a16:colId xmlns:a16="http://schemas.microsoft.com/office/drawing/2014/main" val="1395867343"/>
                    </a:ext>
                  </a:extLst>
                </a:gridCol>
                <a:gridCol w="1873502">
                  <a:extLst>
                    <a:ext uri="{9D8B030D-6E8A-4147-A177-3AD203B41FA5}">
                      <a16:colId xmlns:a16="http://schemas.microsoft.com/office/drawing/2014/main" val="3490619718"/>
                    </a:ext>
                  </a:extLst>
                </a:gridCol>
                <a:gridCol w="993571">
                  <a:extLst>
                    <a:ext uri="{9D8B030D-6E8A-4147-A177-3AD203B41FA5}">
                      <a16:colId xmlns:a16="http://schemas.microsoft.com/office/drawing/2014/main" val="1308510463"/>
                    </a:ext>
                  </a:extLst>
                </a:gridCol>
                <a:gridCol w="1374463">
                  <a:extLst>
                    <a:ext uri="{9D8B030D-6E8A-4147-A177-3AD203B41FA5}">
                      <a16:colId xmlns:a16="http://schemas.microsoft.com/office/drawing/2014/main" val="2565595826"/>
                    </a:ext>
                  </a:extLst>
                </a:gridCol>
                <a:gridCol w="866607">
                  <a:extLst>
                    <a:ext uri="{9D8B030D-6E8A-4147-A177-3AD203B41FA5}">
                      <a16:colId xmlns:a16="http://schemas.microsoft.com/office/drawing/2014/main" val="2883032779"/>
                    </a:ext>
                  </a:extLst>
                </a:gridCol>
                <a:gridCol w="358751">
                  <a:extLst>
                    <a:ext uri="{9D8B030D-6E8A-4147-A177-3AD203B41FA5}">
                      <a16:colId xmlns:a16="http://schemas.microsoft.com/office/drawing/2014/main" val="941222294"/>
                    </a:ext>
                  </a:extLst>
                </a:gridCol>
                <a:gridCol w="330536">
                  <a:extLst>
                    <a:ext uri="{9D8B030D-6E8A-4147-A177-3AD203B41FA5}">
                      <a16:colId xmlns:a16="http://schemas.microsoft.com/office/drawing/2014/main" val="4038515469"/>
                    </a:ext>
                  </a:extLst>
                </a:gridCol>
                <a:gridCol w="867262">
                  <a:extLst>
                    <a:ext uri="{9D8B030D-6E8A-4147-A177-3AD203B41FA5}">
                      <a16:colId xmlns:a16="http://schemas.microsoft.com/office/drawing/2014/main" val="3446765712"/>
                    </a:ext>
                  </a:extLst>
                </a:gridCol>
                <a:gridCol w="867262">
                  <a:extLst>
                    <a:ext uri="{9D8B030D-6E8A-4147-A177-3AD203B41FA5}">
                      <a16:colId xmlns:a16="http://schemas.microsoft.com/office/drawing/2014/main" val="46065667"/>
                    </a:ext>
                  </a:extLst>
                </a:gridCol>
                <a:gridCol w="867262">
                  <a:extLst>
                    <a:ext uri="{9D8B030D-6E8A-4147-A177-3AD203B41FA5}">
                      <a16:colId xmlns:a16="http://schemas.microsoft.com/office/drawing/2014/main" val="1515778925"/>
                    </a:ext>
                  </a:extLst>
                </a:gridCol>
                <a:gridCol w="867262">
                  <a:extLst>
                    <a:ext uri="{9D8B030D-6E8A-4147-A177-3AD203B41FA5}">
                      <a16:colId xmlns:a16="http://schemas.microsoft.com/office/drawing/2014/main" val="4206655832"/>
                    </a:ext>
                  </a:extLst>
                </a:gridCol>
                <a:gridCol w="867262">
                  <a:extLst>
                    <a:ext uri="{9D8B030D-6E8A-4147-A177-3AD203B41FA5}">
                      <a16:colId xmlns:a16="http://schemas.microsoft.com/office/drawing/2014/main" val="65499998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api14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Wellname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Operator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Formation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Lateral Length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BWPF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PPF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Oil EUR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Gas EUR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Oil EUR/ft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GOR EUR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WOR EUR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17874157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42301373860000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SCOTT-STATE-REVOLVER C 141H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SM ENERGY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10054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1,977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542,812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4,275,710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7.9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25.3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10888393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42301358020000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GOODNIGHT 10/11 B B101MD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MEWBOURNE OIL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9945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1,976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517,474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1,601,435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3.1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16.5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7743791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42301373850000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SCOTT-STATE-REVOLVER B 121H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SM ENERGY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2ND BONE SPRING SAND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9915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2,106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529,164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3,433,285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6.5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6.9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40900496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42301371650000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PREQUEL STATE A 651H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CONOCOPHILLIPS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 </a:t>
                      </a:r>
                      <a:r>
                        <a:rPr lang="en-US" sz="800" u="none" strike="noStrike" dirty="0">
                          <a:effectLst/>
                        </a:rPr>
                        <a:t>SAND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11433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2,274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656,625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3,208,770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4.9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3.9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6875059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42301371660000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PREQUEL STATE B 652H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CONOCOPHILLIPS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10225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2,564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999,327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1,239,400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1.2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2.0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16770650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42301371300000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GOODNIGHT 10/11 D B201NC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MEWBOURNE OIL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 </a:t>
                      </a:r>
                      <a:r>
                        <a:rPr lang="en-US" sz="800" u="none" strike="noStrike" dirty="0">
                          <a:effectLst/>
                        </a:rPr>
                        <a:t>SAND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9975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2,099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371,785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1,701,895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4.6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4.7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15821727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42301371290000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GOODNIGHT 10/11 C B101NC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MEWBOURNE OIL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10184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2,158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375,482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1,572,128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4.2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8.7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1378769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42301371110000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SLINGSHOT STATE H 951H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CONOCOPHILLIPS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15581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2,505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2,635,679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958,058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169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0.4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0.7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10599651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42301371140000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SLINGSHOT STATE J 952H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CONOCOPHILLIPS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15612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2,500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694,836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814,304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1.2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3.8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2849355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42301370390000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SCOTT-STATE-AFTERBUZZ C 112H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SM ENERGY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10415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740,634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6,917,246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9.3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4.4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32800565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42301370400000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SCOTT-STATE-AFTERBUZZ E 143H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SM ENERGY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10188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705,113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6,005,247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8.5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1.7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2240846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42301370370000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SCOTT-STATE-AFTERBUZZ B 142H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SM ENERGY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10055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446,470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5,623,529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12.6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4.5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28927507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42301361360100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AFTERMATH WEST A UNIT BS 350H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CONOCOPHILLIPS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6927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27164880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42301360350000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DREADNAUGHT F 250H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CONOCOPHILLIPS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8072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3,093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835,907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2,155,936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2.6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3.7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2975354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42301359900000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RUDD DRAW E 341H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CONOCOPHILLIPS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 </a:t>
                      </a:r>
                      <a:r>
                        <a:rPr lang="en-US" sz="800" u="none" strike="noStrike" dirty="0">
                          <a:effectLst/>
                        </a:rPr>
                        <a:t>SAND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10265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2,559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698,922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2,031,317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2.9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3.8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32060083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42301359890000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RUDD DRAW D 351H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CONOCOPHILLIPS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9885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2,605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1,368,109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1,896,835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138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1.4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1.1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10415045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42301357720000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GOODNIGHT 10/11 A B201MD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MEWBOURNE OIL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9943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1,837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486,065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3,777,417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7.8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14.5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17994702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42301353360000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DREADNAUGHT D 240H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CONOCOPHILLIPS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2ND BONE SPRING </a:t>
                      </a:r>
                      <a:r>
                        <a:rPr lang="en-US" sz="800" u="none" strike="noStrike" dirty="0">
                          <a:effectLst/>
                        </a:rPr>
                        <a:t>SAND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7976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3,130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507,547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1,271,684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2.5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4.7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6" marR="7496" marT="7496" marB="0" anchor="ctr"/>
                </a:tc>
                <a:extLst>
                  <a:ext uri="{0D108BD9-81ED-4DB2-BD59-A6C34878D82A}">
                    <a16:rowId xmlns:a16="http://schemas.microsoft.com/office/drawing/2014/main" val="135885511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99DD61D-6922-D195-425D-37F245749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Type Curve Wells</a:t>
            </a:r>
          </a:p>
        </p:txBody>
      </p:sp>
    </p:spTree>
    <p:extLst>
      <p:ext uri="{BB962C8B-B14F-4D97-AF65-F5344CB8AC3E}">
        <p14:creationId xmlns:p14="http://schemas.microsoft.com/office/powerpoint/2010/main" val="27952090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 [1779323547670]">
  <a:themeElements>
    <a:clrScheme name="Corporate White">
      <a:dk1>
        <a:srgbClr val="1B3A5C"/>
      </a:dk1>
      <a:lt1>
        <a:srgbClr val="FFFFFF"/>
      </a:lt1>
      <a:dk2>
        <a:srgbClr val="2C4A6E"/>
      </a:dk2>
      <a:lt2>
        <a:srgbClr val="F5F7FA"/>
      </a:lt2>
      <a:accent1>
        <a:srgbClr val="1B3A5C"/>
      </a:accent1>
      <a:accent2>
        <a:srgbClr val="2F6CB5"/>
      </a:accent2>
      <a:accent3>
        <a:srgbClr val="4A90D9"/>
      </a:accent3>
      <a:accent4>
        <a:srgbClr val="1B3A5C"/>
      </a:accent4>
      <a:accent5>
        <a:srgbClr val="6BAAED"/>
      </a:accent5>
      <a:accent6>
        <a:srgbClr val="0F2440"/>
      </a:accent6>
      <a:hlink>
        <a:srgbClr val="2F6CB5"/>
      </a:hlink>
      <a:folHlink>
        <a:srgbClr val="4A90D9"/>
      </a:folHlink>
    </a:clrScheme>
    <a:fontScheme name="Corporate Modern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Microsoft Office PowerPoint</Application>
  <PresentationFormat>Widescreen</PresentationFormat>
  <Paragraphs>251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Montserrat</vt:lpstr>
      <vt:lpstr>Open Sans</vt:lpstr>
      <vt:lpstr>VanillaVTI [1779323547670]</vt:lpstr>
      <vt:lpstr>holdTheLine_bs2s Oil</vt:lpstr>
      <vt:lpstr>Type Curve Wells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Mast</dc:creator>
  <cp:lastModifiedBy>Michael Mast</cp:lastModifiedBy>
  <cp:revision>1</cp:revision>
  <dcterms:created xsi:type="dcterms:W3CDTF">2026-05-22T21:14:07Z</dcterms:created>
  <dcterms:modified xsi:type="dcterms:W3CDTF">2026-05-22T21:14:52Z</dcterms:modified>
</cp:coreProperties>
</file>